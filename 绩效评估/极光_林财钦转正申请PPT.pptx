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5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66" r:id="rId8"/>
    <p:sldId id="267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8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尊敬的各位领导，大家好！我是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林财钦</a:t>
            </a:r>
            <a:r>
              <a:rPr lang="en-US" sz="1400" b="0" i="0" u="none" strike="noStrike">
                <a:solidFill>
                  <a:srgbClr val="000000"/>
                </a:solidFill>
              </a:rPr>
              <a:t>。今天，我将向各位汇报我在试用期内的工作情况、自我评估以及未来的工作规划，并正式提出转正申请。希望通过这次汇报，能让各位领导对我有更全面的了解。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：首先是我的个人综述，包括对过往表现的总体评价、存在的改进机会和未来的发展需求；其次是试用期的绩效评估，详细回顾了两个阶段的工作执行情况和差距分析；第三部分是对试用期工作的总结，提炼了亮点、暗点、经验与沉淀；最后是我转正后的工作规划和具体的行动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首先，我对自己试用期的表现进行一个总体的评价。我认为自己在快速适应新技术、高效执行任务、跨部门沟通以及解决问题方面表现良好。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同时，我也清晰地认识到自身存在的不足，比如在AI模型应用的深度和开发知识面的广度上还有待提升。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基于此，我制定了明确的自我发展需求，希望在编码能力、工程化技术和技术栈拓展三个方面取得进步。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的绩效评估。第一阶段，从1月7日到2月9日，我的主要目标是熟悉业务并完成印度包一期的核心开发任务。在此期间，我顺利完成了Feed流、主播详情页等多个核心页面的开发，并搭建了IM底层框架。同时，我也开始尝试使用AI工具来提升工作效率。当然，我也认识到自己在代码能力方面还有提升的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阶段，从2月24日到4月7日，我的工作重点转向完成印度包的剩余开发任务和项目整体把控。我完成了个人中心、用户支付等剩余功能的开发，并成功将App提交测试，进行了bug修复。但我也意识到，在整体项目的把控能力上，我还需要进一步学习和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试用期结束之际，我对自己的工作进行了总结。我认为自己的亮点在于较高的开发效率、主动沟通的意识、快速的学习能力和良好的跨部门协作能力。同时，我也正视自己的不足，主要体现在AI应用的深度、技术栈的广度以及整体开发能力的精进上，这些都是我未来需要重点改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经验与沉淀方面，我深刻体会到AI辅助开发带来的效率提升，以及明确需求对于项目成功的重要性。同时，我也积极在各种平台上学习AI工具的使用技巧，并乐于将这些情报与团队分享，希望能为团队的发展贡献一份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能够顺利转正，我为自己制定了清晰的工作规划。短期目标是在一个月内完成一个App的上架。中期目标是在未来3个月内完成项目分包，并开始学习Flutter开发。长期来看，我希望在半年内达到团队平均水平，一年内成为团队的中坚力量，为公司创造更大的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对试用期的工作进行总结，并对未来进行展望。我非常珍惜在公司的这段经历，也渴望能成为正式员工的一员。我将以更加饱满的热情和更加严谨的态度投入到未来的工作中，不辜负领导的期望。在此，我正式向各位领导提出转正申请，恳请批准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我的汇报到此结束，感谢各位领导的聆听。接下来是问答环节，欢迎各位领导提问。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4.svg"/><Relationship Id="rId13" Type="http://schemas.openxmlformats.org/officeDocument/2006/relationships/image" Target="../media/image23.png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image" Target="../media/image20.sv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2.svg"/><Relationship Id="rId3" Type="http://schemas.openxmlformats.org/officeDocument/2006/relationships/image" Target="../media/image37.png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0.svg"/><Relationship Id="rId2" Type="http://schemas.openxmlformats.org/officeDocument/2006/relationships/image" Target="../media/image36.svg"/><Relationship Id="rId19" Type="http://schemas.openxmlformats.org/officeDocument/2006/relationships/image" Target="../media/image52.png"/><Relationship Id="rId18" Type="http://schemas.openxmlformats.org/officeDocument/2006/relationships/image" Target="../media/image51.svg"/><Relationship Id="rId17" Type="http://schemas.openxmlformats.org/officeDocument/2006/relationships/image" Target="../media/image50.png"/><Relationship Id="rId16" Type="http://schemas.openxmlformats.org/officeDocument/2006/relationships/image" Target="../media/image49.svg"/><Relationship Id="rId15" Type="http://schemas.openxmlformats.org/officeDocument/2006/relationships/image" Target="../media/image48.png"/><Relationship Id="rId14" Type="http://schemas.openxmlformats.org/officeDocument/2006/relationships/image" Target="../media/image47.svg"/><Relationship Id="rId13" Type="http://schemas.openxmlformats.org/officeDocument/2006/relationships/image" Target="../media/image46.png"/><Relationship Id="rId12" Type="http://schemas.openxmlformats.org/officeDocument/2006/relationships/image" Target="../media/image45.svg"/><Relationship Id="rId11" Type="http://schemas.openxmlformats.org/officeDocument/2006/relationships/image" Target="../media/image44.png"/><Relationship Id="rId10" Type="http://schemas.openxmlformats.org/officeDocument/2006/relationships/image" Target="../media/image43.sv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0" Type="http://schemas.openxmlformats.org/officeDocument/2006/relationships/notesSlide" Target="../notesSlides/notesSlide7.xml"/><Relationship Id="rId2" Type="http://schemas.openxmlformats.org/officeDocument/2006/relationships/image" Target="../media/image28.svg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image" Target="../media/image58.svg"/><Relationship Id="rId15" Type="http://schemas.openxmlformats.org/officeDocument/2006/relationships/image" Target="../media/image57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41.svg"/><Relationship Id="rId10" Type="http://schemas.openxmlformats.org/officeDocument/2006/relationships/image" Target="../media/image56.png"/><Relationship Id="rId1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image" Target="../media/image60.svg"/><Relationship Id="rId43" Type="http://schemas.openxmlformats.org/officeDocument/2006/relationships/notesSlide" Target="../notesSlides/notesSlide8.xml"/><Relationship Id="rId42" Type="http://schemas.openxmlformats.org/officeDocument/2006/relationships/slideLayout" Target="../slideLayouts/slideLayout12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image" Target="../media/image59.png"/><Relationship Id="rId39" Type="http://schemas.openxmlformats.org/officeDocument/2006/relationships/image" Target="../media/image69.svg"/><Relationship Id="rId38" Type="http://schemas.openxmlformats.org/officeDocument/2006/relationships/image" Target="../media/image68.png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image" Target="../media/image67.svg"/><Relationship Id="rId32" Type="http://schemas.openxmlformats.org/officeDocument/2006/relationships/image" Target="../media/image66.png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13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image" Target="../media/image65.svg"/><Relationship Id="rId25" Type="http://schemas.openxmlformats.org/officeDocument/2006/relationships/image" Target="../media/image64.png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12.xml"/><Relationship Id="rId19" Type="http://schemas.openxmlformats.org/officeDocument/2006/relationships/image" Target="../media/image26.svg"/><Relationship Id="rId18" Type="http://schemas.openxmlformats.org/officeDocument/2006/relationships/image" Target="../media/image63.png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image" Target="../media/image62.svg"/><Relationship Id="rId11" Type="http://schemas.openxmlformats.org/officeDocument/2006/relationships/image" Target="../media/image61.png"/><Relationship Id="rId10" Type="http://schemas.openxmlformats.org/officeDocument/2006/relationships/tags" Target="../tags/tag18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7.svg"/><Relationship Id="rId1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365500" y="762000"/>
            <a:ext cx="5473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试用期工作总结与转正申请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50E3C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905000"/>
            <a:ext cx="9652000" cy="3048000"/>
          </a:xfrm>
          <a:prstGeom prst="roundRect">
            <a:avLst>
              <a:gd name="adj" fmla="val 41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2159000"/>
            <a:ext cx="812800" cy="812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86000" y="317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林财钦</a:t>
            </a:r>
            <a:endParaRPr lang="zh-CN" altLang="en-US" sz="20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286000" y="3683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2026年04月07日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058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92200" y="1968500"/>
            <a:ext cx="635000" cy="635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20955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826000" y="17780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C8C8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个人综述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2349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总体评价、改进机会与发展需求，对过往表现进行深度复盘。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1651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16700" y="1968500"/>
            <a:ext cx="635000" cy="635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3700" y="2095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350500" y="17780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C8C8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295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绩效评估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429500" y="2349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试用期执行情况回顾，量化指标完成度及差距分析。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683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3683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92200" y="4000500"/>
            <a:ext cx="635000" cy="635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41275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826000" y="38100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C8C8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905000" y="393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总结规律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905000" y="4381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工作亮点与暗点分析，沉淀方法论与情报分享。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86500" y="3683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86500" y="3683000"/>
            <a:ext cx="76200" cy="1778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16700" y="4000500"/>
            <a:ext cx="635000" cy="635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3700" y="4127500"/>
            <a:ext cx="381000" cy="381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350500" y="38100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C8C8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429500" y="393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工作规划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429500" y="4381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转正后核心工作目标拆解与详细的行动计划。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一、个人综述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总体评价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2352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快速适应能力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快速掌握ComposeUI开发，熟练运用AI工具辅助工作。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702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高效执行力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严格按计划推进，保障项目任务高质量按时提交。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5052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良好沟通协调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跨部门协作顺畅，有效推动项目稳步进行。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19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1402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问题解决能力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面对未知需求主动沟通，确保需求清晰并有效实现。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7E6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1714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94500" y="16764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存在改进机会点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095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C3C3C"/>
              </a:buClr>
              <a:buChar char="•"/>
              <a:defRPr/>
            </a:pP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AI模型应用深度：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需加强Kiro、WindSurf、Codex等AI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的熟练运用。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3C3C3C"/>
              </a:buClr>
              <a:buChar char="•"/>
            </a:pP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开发知识面广度：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整体技术视野仍需拓展，持续学习前沿技术。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3429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619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94500" y="35814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自我发展需求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000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C3C3C"/>
              </a:buClr>
              <a:buChar char="•"/>
              <a:defRPr/>
            </a:pP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编码精进：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提高Kotlin代码精确性与速度，深入工程化混淆与分包。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3C3C3C"/>
              </a:buClr>
              <a:buChar char="•"/>
            </a:pP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技术栈拓展：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掌握Flutter企业级开发，了解马甲包开发知识。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5A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5524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460500" y="54864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试用期内快速融入团队并产出成果，</a:t>
            </a:r>
            <a:r>
              <a:rPr lang="zh-CN" alt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高效高质量完成印度包需求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，为团队创造更大价值。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/>
                <a:ea typeface="Noto Sans SC"/>
                <a:cs typeface="Noto Sans SC"/>
                <a:sym typeface="Noto Sans SC"/>
              </a:rPr>
              <a:t>二、绩效评估：第一阶段 (01.07 - 02.09)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/>
                <a:ea typeface="Noto Sans SC"/>
                <a:cs typeface="Noto Sans SC"/>
                <a:sym typeface="Noto Sans SC"/>
              </a:rPr>
              <a:t>▍工作内容与目标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07160" y="1837690"/>
            <a:ext cx="2921000" cy="1210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业务熟悉与开发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了解印度包业务，完成Feed流、</a:t>
            </a:r>
            <a:r>
              <a:rPr lang="zh-CN" alt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多个</a:t>
            </a:r>
            <a:r>
              <a:rPr lang="zh-CN" alt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详情页面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等核心页面开发，搭建IM框架。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032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826000" y="1968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工具提效与沟通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熟练运用AI工具提升效率，主动沟通解决跨部门协作问题。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0" y="203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255000" y="1968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编码规范养成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养成良好代码习惯，坚持大模块开发前进行设计Review。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2854960"/>
            <a:ext cx="10668000" cy="2939415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2895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/>
                <a:ea typeface="Noto Sans SC"/>
                <a:cs typeface="Noto Sans SC"/>
                <a:sym typeface="Noto Sans SC"/>
              </a:rPr>
              <a:t>▍完成情况与成果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2809875"/>
            <a:ext cx="10160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需求梳理与排期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：阅读并整理需求文档，与领导共同完成任务排期。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核心功能开发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：熟读代码工程，完成Feed流、Follow流、主播详情页、视频图片查看页面、卡片匹配页、IM底层框架搭建、礼物弹窗、用户</a:t>
            </a:r>
            <a:r>
              <a:rPr lang="zh-CN" alt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</a:t>
            </a:r>
            <a:r>
              <a:rPr lang="zh-CN" alt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弹窗等核心功能开发。</a:t>
            </a:r>
            <a:endParaRPr 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AI工具提效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：熟练掌握并应用多种AI工具辅助开发，显著提升开发效率。</a:t>
            </a:r>
            <a:endParaRPr 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工具类开发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：开发统一工具类，为后续开发提供支持。</a:t>
            </a:r>
            <a:endParaRPr 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超量完成任务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：在计划外超量完成IM列表、聊天页面的整体功能开发。</a:t>
            </a:r>
            <a:endParaRPr 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6.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跨部门协作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：主动与多部门沟通协调，确保UI和需求明确，保障项目顺利推进。</a:t>
            </a:r>
            <a:endParaRPr 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7.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问题解决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：遇到疑问及时与领导沟通，确定解决方案并落实。</a:t>
            </a:r>
            <a:endParaRPr 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8.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：完成已知需求点18个，实际完成工作远超出预期。</a:t>
            </a:r>
            <a:endParaRPr 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928995"/>
            <a:ext cx="10668000" cy="635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6035040"/>
            <a:ext cx="10160000" cy="4235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阶段小结：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第一阶段实现了从业务陌生到核心交付的跨越，技术落地能力得到验证，后续将聚焦于深度技术沉淀与效率优化。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/>
                <a:ea typeface="Noto Sans SC"/>
                <a:cs typeface="Noto Sans SC"/>
                <a:sym typeface="Noto Sans SC"/>
              </a:rPr>
              <a:t>二、绩效评估：第二阶段 (02.24 - 04.07)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86840"/>
            <a:ext cx="10668000" cy="1387475"/>
          </a:xfrm>
          <a:prstGeom prst="roundRect">
            <a:avLst>
              <a:gd name="adj" fmla="val 8333"/>
            </a:avLst>
          </a:prstGeom>
          <a:solidFill>
            <a:srgbClr val="005A9C">
              <a:alpha val="5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53845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5702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工作内容与目标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1168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完成剩余开发：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完成印度包所有剩余功能开发，包括个人中心、消息通信、用户支付、埋点等。</a:t>
            </a:r>
            <a:endParaRPr lang="en-US" sz="1300"/>
          </a:p>
          <a:p>
            <a:pPr marL="190500" indent="-1905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项目进度把控：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主动协调资源，推动未明确需求落地，把控项目风险，争取在试用期结束前完成App提测、bugfix并达到发布标准。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51840" y="2903855"/>
            <a:ext cx="10668635" cy="2990215"/>
          </a:xfrm>
          <a:prstGeom prst="roundRect">
            <a:avLst>
              <a:gd name="adj" fmla="val 3448"/>
            </a:avLst>
          </a:prstGeom>
          <a:solidFill>
            <a:srgbClr val="4A90E2">
              <a:alpha val="5000"/>
            </a:srgbClr>
          </a:solidFill>
          <a:ln w="12700" cap="flat" cmpd="sng">
            <a:solidFill>
              <a:srgbClr val="4A90E2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029585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01371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完成情况与成果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162935"/>
            <a:ext cx="10160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项目规划与排期：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与领导确定项目目标与时间，完成二期工作排期。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功能开发与优化：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完成快速匹配、个人中心、机器人客服、国际化语言适配、自动翻译等功能；开发签到、充值、促销等多种弹窗及谷歌内购支付流程；重构呼叫页面、IM聊天页面等多处UI；实现混淆API、触发话术等功能点。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SDK集成：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完成风控、审核模式、上报日志、Adjust、埋点归因、崩溃捕获等SDK的接入。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文档整理与：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整理印度包和全球包需求文档与开发文档，修复遗漏问题。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开发自测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：根据测试用例进行全面自测，查漏补缺。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应用优化：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优化应用启动速度、包体大小，提升代码质量。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完成已知需求点43个，实际完成工作远超出预期。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项目交付：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成功提测应用，并根据反馈修复bug。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6057265"/>
            <a:ext cx="10668000" cy="545465"/>
          </a:xfrm>
          <a:prstGeom prst="roundRect">
            <a:avLst>
              <a:gd name="adj" fmla="val 10000"/>
            </a:avLst>
          </a:prstGeom>
          <a:solidFill>
            <a:srgbClr val="F59E0B">
              <a:alpha val="5000"/>
            </a:srgbClr>
          </a:solidFill>
          <a:ln w="12700" cap="flat" cmpd="sng">
            <a:solidFill>
              <a:srgbClr val="F59E0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06475" y="605663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333333"/>
              </a:buClr>
              <a:buNone/>
              <a:defRPr/>
            </a:pPr>
            <a:r>
              <a:rPr lang="en-US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差距分析 </a:t>
            </a:r>
            <a:r>
              <a:rPr lang="en-US" sz="12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整体开发把控能力</a:t>
            </a:r>
            <a:r>
              <a:rPr lang="zh-CN" altLang="en-US" sz="1200" i="0" u="none" strike="noStrike">
                <a:solidFill>
                  <a:srgbClr val="333333"/>
                </a:solidFill>
                <a:latin typeface="Noto Sans SC" panose="020B0200000000000000" charset="-122"/>
                <a:ea typeface="宋体" charset="0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学习全面推进应用开发的能力，提升对整体项目的把控水平。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04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三、总结规律：亮点与暗点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762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工作亮点 Highlights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05A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324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222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开发效率较高：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代码开发效率表现良好，产出稳定。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8575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05A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3022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2921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主动沟通意识：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面对未知需求主动确认，确保信息对齐。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556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05A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3721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619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学习能力强：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快速掌握Compose UI及AI辅助工具。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545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05A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4419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318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跨部门协作顺畅：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多方沟通协调能力良好，推动问题解决。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1397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1397000"/>
            <a:ext cx="5080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待改进点 Improvements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2159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23241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2222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AI应用深度不足：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目前使用仍停留在初级阶段，需加深理解</a:t>
            </a:r>
            <a:r>
              <a:rPr lang="zh-CN" alt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宋体" charset="0"/>
                <a:cs typeface="Noto Sans SC" panose="020B0200000000000000" charset="-122"/>
                <a:sym typeface="Noto Sans SC" panose="020B0200000000000000" charset="-122"/>
              </a:rPr>
              <a:t>，应用</a:t>
            </a:r>
            <a:r>
              <a:rPr lang="en-US" altLang="zh-CN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宋体" charset="0"/>
                <a:cs typeface="Noto Sans SC" panose="020B0200000000000000" charset="-122"/>
                <a:sym typeface="Noto Sans SC" panose="020B0200000000000000" charset="-122"/>
              </a:rPr>
              <a:t>Skills</a:t>
            </a:r>
            <a:r>
              <a:rPr lang="zh-CN" alt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宋体" charset="0"/>
                <a:cs typeface="Noto Sans SC" panose="020B0200000000000000" charset="-122"/>
                <a:sym typeface="Noto Sans SC" panose="020B0200000000000000" charset="-122"/>
              </a:rPr>
              <a:t>等能力，加速</a:t>
            </a:r>
            <a:r>
              <a:rPr lang="en-US" altLang="zh-CN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宋体" charset="0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宋体" charset="0"/>
                <a:cs typeface="Noto Sans SC" panose="020B0200000000000000" charset="-122"/>
                <a:sym typeface="Noto Sans SC" panose="020B0200000000000000" charset="-122"/>
              </a:rPr>
              <a:t>掌握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04000" y="28575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31000" y="3022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2000" y="2921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技术栈有待拓展：</a:t>
            </a:r>
            <a:r>
              <a:rPr lang="zh-CN" alt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学习并加强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Flutter及特定需求的开发能力。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3556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31000" y="37211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2000" y="3619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整体开发能力需精进：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在复杂场景处理和技术深度上仍有空间。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397000" y="53975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持续保持高效开发与沟通优势，</a:t>
            </a:r>
            <a:r>
              <a:rPr lang="zh-CN" alt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将分包和开发新包能力提升，提高</a:t>
            </a:r>
            <a:r>
              <a:rPr lang="zh-CN" alt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产出。</a:t>
            </a:r>
            <a:endParaRPr lang="zh-CN" alt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三、总结规律：经验与沉淀、情报与分享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经验与沉淀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549">
            <a:off x="1016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A9C">
                <a:alpha val="1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460500" y="24892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AI辅助开发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460500" y="2857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AI工具能显著提升开发效率，特别是在需求明确的情况下，AI的编码能力能提供有力支持。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460500" y="36322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需求明确是关键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460500" y="4000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清晰的需求声明是保障开发效率和质量的前提，能有效减少沟通成本与返工。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184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情报与分享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604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A9C">
                <a:alpha val="1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5" name="Picture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54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7048500" y="24892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AI工具学习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7048500" y="2857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在试用期内，通过边学边用的方式，在多个平台和网站上学习了AI工具的使用技巧和最佳实践。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3683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7048500" y="36322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知识共享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6700520" y="4138295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 algn="l">
              <a:lnSpc>
                <a:spcPct val="108000"/>
              </a:lnSpc>
              <a:buFont typeface="Arial" panose="020B0604020202090204" pitchFamily="34" charset="0"/>
              <a:buAutoNum type="arabicPeriod"/>
              <a:defRPr/>
            </a:pP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altLang="zh-CN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Codex</a:t>
            </a: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的多</a:t>
            </a:r>
            <a:r>
              <a:rPr lang="en-US" altLang="zh-CN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、多角色进行调试</a:t>
            </a: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endParaRPr lang="zh-CN" alt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buFont typeface="Arial" panose="020B0604020202090204" pitchFamily="34" charset="0"/>
              <a:buAutoNum type="arabicPeriod"/>
              <a:defRPr/>
            </a:pPr>
            <a:r>
              <a:rPr lang="en-US" altLang="zh-CN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Codex</a:t>
            </a: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是有边界的开发，适合具体复杂的开发</a:t>
            </a: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</a:t>
            </a:r>
            <a:endParaRPr lang="zh-CN" alt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buFont typeface="Arial" panose="020B0604020202090204" pitchFamily="34" charset="0"/>
              <a:buAutoNum type="arabicPeriod"/>
              <a:defRPr/>
            </a:pPr>
            <a:r>
              <a:rPr lang="en-US" altLang="zh-CN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</a:t>
            </a: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是无边界开发，适合开发新</a:t>
            </a:r>
            <a:r>
              <a:rPr lang="zh-CN" alt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</a:t>
            </a:r>
            <a:endParaRPr lang="zh-CN" alt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08000"/>
              </a:lnSpc>
              <a:buFont typeface="Arial" panose="020B0604020202090204" pitchFamily="34" charset="0"/>
              <a:buChar char="•"/>
              <a:defRPr/>
            </a:pPr>
            <a:endParaRPr lang="zh-CN" alt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5A9C">
                  <a:alpha val="100000"/>
                </a:srgbClr>
              </a:gs>
              <a:gs pos="100000">
                <a:srgbClr val="4A90E2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四、工作规划：转正后目标与行动计划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180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短期目标 (1个月内)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349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快速熟悉流程，完成1个App的上架工作，确保上线质量与稳定性。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524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524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1841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207000" y="180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中期目标 (1-3个月)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99000" y="2349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基于现有BaseCode完成项目分包处理，提升工程化水平；着手学习Flutter开发。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1524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128000" y="1524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1841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890000" y="1803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中期进阶 (3个月)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82000" y="2349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深入掌握Flutter技术栈，独立负责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开发，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协助，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实现iOS端的开发与上架。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762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762000" y="3810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16000" y="4127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7"/>
            </p:custDataLst>
          </p:nvPr>
        </p:nvSpPr>
        <p:spPr>
          <a:xfrm>
            <a:off x="1524000" y="4089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长期目标 (6个月内)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1016000" y="4635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全面提升个人技术深度与广度，主动承担更多复杂任务，争取达到团队平均水平。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4445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A9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4445000" y="3810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699000" y="4127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4"/>
            </p:custDataLst>
          </p:nvPr>
        </p:nvSpPr>
        <p:spPr>
          <a:xfrm>
            <a:off x="5207000" y="4089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长期愿景 (1年内)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35"/>
            </p:custDataLst>
          </p:nvPr>
        </p:nvSpPr>
        <p:spPr>
          <a:xfrm>
            <a:off x="4699000" y="4635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达到与团队成员一致的开发水平和出包质量，成为团队的中坚力量。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36"/>
            </p:custDataLst>
          </p:nvPr>
        </p:nvSpPr>
        <p:spPr>
          <a:xfrm>
            <a:off x="8128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382000" y="41275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>
            <p:custDataLst>
              <p:tags r:id="rId40"/>
            </p:custDataLst>
          </p:nvPr>
        </p:nvSpPr>
        <p:spPr>
          <a:xfrm>
            <a:off x="8890000" y="4089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持续成长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41"/>
            </p:custDataLst>
          </p:nvPr>
        </p:nvSpPr>
        <p:spPr>
          <a:xfrm>
            <a:off x="8382000" y="4635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保持空杯心态，积极拥抱新技术，为公司创造更大价值。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51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90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试用期内完成了从业务熟悉到独立开发的转变，技术能力和项目协作均有提升，同时也清醒认识到自身不足。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032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17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以转正为新起点，严格执行成长规划，积极迎接新挑战，不断精进技术，为团队和公司发展贡献力量。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2032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转正申请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17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经过这段时间的沉淀与积累，我已做好充分准备。恳请各位领导批准我的转正申请，我将全力以赴。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5A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95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“以终为始，砥砺前行，感谢公司给予的平台与信任！”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9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651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549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444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欢迎各位领导提问与交流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2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3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4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5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6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7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8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9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10.xml><?xml version="1.0" encoding="utf-8"?>
<p:tagLst xmlns:p="http://schemas.openxmlformats.org/presentationml/2006/main">
  <p:tag name="KSO_WM_DIAGRAM_VIRTUALLY_FRAME" val="{&quot;height&quot;:180.65,&quot;left&quot;:115,&quot;top&quot;:196,&quot;width&quot;:770}"/>
</p:tagLst>
</file>

<file path=ppt/tags/tag11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2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3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4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7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0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6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7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8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29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0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1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2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3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4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5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6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7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8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ags/tag39.xml><?xml version="1.0" encoding="utf-8"?>
<p:tagLst xmlns:p="http://schemas.openxmlformats.org/presentationml/2006/main">
  <p:tag name="KSO_WM_DIAGRAM_VIRTUALLY_FRAME" val="{&quot;height&quot;:33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WPS 演示</Application>
  <PresentationFormat/>
  <Paragraphs>201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Thonburi</vt:lpstr>
      <vt:lpstr>Noto Sans SC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宋体-简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木木财钦</cp:lastModifiedBy>
  <cp:revision>14</cp:revision>
  <dcterms:created xsi:type="dcterms:W3CDTF">2026-04-08T09:20:18Z</dcterms:created>
  <dcterms:modified xsi:type="dcterms:W3CDTF">2026-04-08T09:20:18Z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2BECE4F1DDDE422F87CF1DD1B6E0E3DB_13</vt:lpwstr>
  </property>
</Properties>
</file>